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245" y="-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38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65563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0389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9249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234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7012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0265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4725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8201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1149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9609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64097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1105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29986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1494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72215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36243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72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72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C6E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F80E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4572000" cy="4572000"/>
          </a:xfrm>
          <a:prstGeom prst="ellipse">
            <a:avLst/>
          </a:prstGeom>
          <a:solidFill>
            <a:srgbClr val="2F80ED">
              <a:alpha val="3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74421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– 1st PRESENTATION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6676" y="1704975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Tourist Demand Forecasting for Uttarakhand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632960" y="3068955"/>
            <a:ext cx="2926080" cy="0"/>
          </a:xfrm>
          <a:prstGeom prst="line">
            <a:avLst/>
          </a:prstGeom>
          <a:noFill/>
          <a:ln w="25400">
            <a:solidFill>
              <a:srgbClr val="E7F0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30881" y="42291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Number : 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30881" y="38423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[Roll Numbers]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30881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Name], [Designation]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602607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[Department Name]</a:t>
            </a:r>
            <a:endParaRPr lang="en-US" sz="1300" b="1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Shivalik College of Engineering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Year – [Academic Session]</a:t>
            </a:r>
            <a:endParaRPr lang="en-US" sz="1100" b="1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3CBBA45-40DE-E359-AD44-CD7B14DF6DCD}"/>
              </a:ext>
            </a:extLst>
          </p:cNvPr>
          <p:cNvSpPr txBox="1"/>
          <p:nvPr/>
        </p:nvSpPr>
        <p:spPr>
          <a:xfrm>
            <a:off x="3230881" y="3383281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 1], [Student Name 2], [Student Name 3]</a:t>
            </a:r>
            <a:endParaRPr lang="en-US" sz="1500" dirty="0"/>
          </a:p>
        </p:txBody>
      </p:sp>
      <p:pic>
        <p:nvPicPr>
          <p:cNvPr id="15" name="Picture 14" descr="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542" y="90316"/>
            <a:ext cx="1610868" cy="14546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7F0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/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675120" cy="4434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Uttarakhand recorded about 6.10 crore tourist visits in 2024 (Ministry of Tourism). Demand is highly seasonal: Char Dham opening and holidays (May–June), the Kanwar Yatra (July) and a second Char Dham peak in October.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400">
              <a:solidFill>
                <a:srgbClr val="1C2B4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and shocks distort it: the Haridwar Kumbh (next: Jan–Apr 2027) and COVID-19, which cut visits from 3.77 crore (2019) to 0.70 crore (2020) before demand settled at a much higher level.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400">
              <a:solidFill>
                <a:srgbClr val="1C2B4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forecasts monthly tourist visits 1–3 years ahead, so hotels, transport, the Char Dham administration and disaster teams can plan capacity and safety.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43800" y="1691640"/>
            <a:ext cx="4114800" cy="4434840"/>
          </a:xfrm>
          <a:prstGeom prst="roundRect">
            <a:avLst>
              <a:gd name="adj" fmla="val 1778"/>
            </a:avLst>
          </a:prstGeom>
          <a:solidFill>
            <a:srgbClr val="1B3C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2514600"/>
            <a:ext cx="292608" cy="292608"/>
          </a:xfrm>
          <a:prstGeom prst="ellipse">
            <a:avLst/>
          </a:prstGeom>
          <a:solidFill>
            <a:srgbClr val="E7F0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8181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4688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time-series forecasting of tourism demand (Uttarakhand + Himachal Pradesh)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18120" y="3383280"/>
            <a:ext cx="292608" cy="292608"/>
          </a:xfrm>
          <a:prstGeom prst="ellipse">
            <a:avLst/>
          </a:prstGeom>
          <a:solidFill>
            <a:srgbClr val="E7F0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1812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33375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open month-wise forecast that handles Char Dham, Kumbh and the post-COVID shift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18120" y="4251960"/>
            <a:ext cx="292608" cy="292608"/>
          </a:xfrm>
          <a:prstGeom prst="ellipse">
            <a:avLst/>
          </a:prstGeom>
          <a:solidFill>
            <a:srgbClr val="E7F0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1812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2062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Matters: helps plan crowds, hotels, transport and safety in fragile mountain areas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18120" y="5120640"/>
            <a:ext cx="292608" cy="292608"/>
          </a:xfrm>
          <a:prstGeom prst="ellipse">
            <a:avLst/>
          </a:prstGeom>
          <a:solidFill>
            <a:srgbClr val="E7F0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1812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50749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event-aware SARIMAX + ML ensemble, with a dashboard and hotspot map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– 1st Presentation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4" name="Picture 23" descr="logo_badge.png">
            <a:extLst>
              <a:ext uri="{FF2B5EF4-FFF2-40B4-BE49-F238E27FC236}">
                <a16:creationId xmlns:a16="http://schemas.microsoft.com/office/drawing/2014/main" id="{F4372396-B675-3458-5AE2-6AEDBAAD7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542" y="90316"/>
            <a:ext cx="1610868" cy="14546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7F0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tourist demand in Uttarakhand is highly seasonal and repeatedly disrupted by events (Kumbh, Char Dham season) and shocks (COVID-19), after which it shifted to a permanently higher level. Planners have no tested month-wise forecast with uncertainty ranges, and models that ignore these events give large errors.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9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343400"/>
            <a:ext cx="320040" cy="320040"/>
          </a:xfrm>
          <a:prstGeom prst="ellipse">
            <a:avLst/>
          </a:prstGeom>
          <a:solidFill>
            <a:srgbClr val="1B3C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1788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pipeline that forecasts monthly visits 1–3 years ahead with 80% ranges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0690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9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4343400"/>
            <a:ext cx="320040" cy="320040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4343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41788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event-aware features: Kumbh, COVID, post-COVID break, seasons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9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394960"/>
            <a:ext cx="320040" cy="320040"/>
          </a:xfrm>
          <a:prstGeom prst="ellipse">
            <a:avLst/>
          </a:prstGeom>
          <a:solidFill>
            <a:srgbClr val="1B3C6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5394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2303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seasonal naive, SARIMAX, Gradient Boosting and an ensemble on a 24-month hold-out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51206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9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5394960"/>
            <a:ext cx="320040" cy="320040"/>
          </a:xfrm>
          <a:prstGeom prst="ellipse">
            <a:avLst/>
          </a:prstGeom>
          <a:solidFill>
            <a:srgbClr val="2F80E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5394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52303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Streamlit dashboard with a hotspot map of Uttarakhand and Himachal Pradesh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– 1st Presentation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9" name="Picture 28" descr="logo_badge.png">
            <a:extLst>
              <a:ext uri="{FF2B5EF4-FFF2-40B4-BE49-F238E27FC236}">
                <a16:creationId xmlns:a16="http://schemas.microsoft.com/office/drawing/2014/main" id="{46A90960-1FA2-17D1-1844-8D395DB57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542" y="90316"/>
            <a:ext cx="1610868" cy="1454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7F0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/ Existing System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878337"/>
              </p:ext>
            </p:extLst>
          </p:nvPr>
        </p:nvGraphicFramePr>
        <p:xfrm>
          <a:off x="548640" y="1828800"/>
          <a:ext cx="11109960" cy="2971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 /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C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Box, Jenkins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Series Analysis: Forecasting and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ARIMA framework; events added as regressors (basis of our SARIMAX)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Song &amp; Li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Tourism demand forecasting – a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method is best everywhere, so several models must be compared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Song, Qiu &amp; Park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of tourism demand forecasting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C2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Time-series, econometric and AI methods all used; combining forecasts helps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Friedman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Gradient boosting machine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2001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Small trees added one by one, each fixing earlier errors; basis of our GBM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53996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Makridakis et 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The M4 Competition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2020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Combinations did well; pure ML methods did not beat statistical benchmarks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71554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Hyndman &amp; Athanasopoulos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Forecasting: Principles and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latin typeface="Calibri" charset="0"/>
                          <a:ea typeface="Calibri" charset="0"/>
                          <a:cs typeface="Calibri" charset="0"/>
                        </a:rPr>
                        <a:t>Test on held-out data against simple benchmarks such as seasonal naive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9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356387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4952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Gap:little open work on month-wise forecasting for Uttarakhand that models Char Dham seasonality, the Kumbh and the post-COVID break together, and extends it to destination level.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– 1st Presentation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9" name="Picture 8" descr="logo_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034" y="256032"/>
            <a:ext cx="556934" cy="502920"/>
          </a:xfrm>
          <a:prstGeom prst="rect">
            <a:avLst/>
          </a:prstGeom>
        </p:spPr>
      </p:pic>
      <p:pic>
        <p:nvPicPr>
          <p:cNvPr id="10" name="Picture 9" descr="logo_badge.png">
            <a:extLst>
              <a:ext uri="{FF2B5EF4-FFF2-40B4-BE49-F238E27FC236}">
                <a16:creationId xmlns:a16="http://schemas.microsoft.com/office/drawing/2014/main" id="{EDB382AD-3459-ED5E-BCF3-0E62FEFFD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542" y="90316"/>
            <a:ext cx="1610868" cy="14546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7F0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 / System Design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1109960" cy="2834640"/>
          </a:xfrm>
          <a:prstGeom prst="rect">
            <a:avLst/>
          </a:prstGeom>
          <a:solidFill>
            <a:srgbClr val="F4F6FB"/>
          </a:solidFill>
          <a:ln w="19050">
            <a:solidFill>
              <a:srgbClr val="C9DCF5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B3C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230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annual totals → monthly series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069080" y="5074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48920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2F80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5230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+ 4 models, 24-month backtest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50749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3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38160" y="4892040"/>
            <a:ext cx="3520440" cy="868680"/>
          </a:xfrm>
          <a:prstGeom prst="roundRect">
            <a:avLst>
              <a:gd name="adj" fmla="val 8421"/>
            </a:avLst>
          </a:prstGeom>
          <a:solidFill>
            <a:srgbClr val="1B3C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7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5230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forecast, hotspot map, dashboard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– 1st Presentation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0" name="Picture 19" descr="logo_badge.png">
            <a:extLst>
              <a:ext uri="{FF2B5EF4-FFF2-40B4-BE49-F238E27FC236}">
                <a16:creationId xmlns:a16="http://schemas.microsoft.com/office/drawing/2014/main" id="{D402A9D5-64E3-677A-0963-499C905F9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542" y="90316"/>
            <a:ext cx="1610868" cy="1454639"/>
          </a:xfrm>
          <a:prstGeom prst="rect">
            <a:avLst/>
          </a:prstGeom>
        </p:spPr>
      </p:pic>
      <p:pic>
        <p:nvPicPr>
          <p:cNvPr id="21" name="Methodology flowchart">
            <a:extLst>
              <a:ext uri="{FF2B5EF4-FFF2-40B4-BE49-F238E27FC236}">
                <a16:creationId xmlns:a16="http://schemas.microsoft.com/office/drawing/2014/main" id="{89919464-BDC7-92C9-49DB-C899628C8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710" y="1859280"/>
            <a:ext cx="5599820" cy="2682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7F0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TIMELINE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C2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Technologies &amp; Work Plan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074920" cy="6400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Language(s)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0749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17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statsmodels, scikit-learn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074920" cy="6400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Altair, pydeck (map)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0749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572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Data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4572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Code; CSV files (no database)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783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WORK PLAN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224028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B3C6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35040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analysis, literature review &amp; data sources (done)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301752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B3C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35040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017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feature and evaluation design; official data collected (done)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379476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B3C6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35040" y="37947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794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hotspot map, dashboard; real monthly data (in progress)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45720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B3C6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35040" y="4572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572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C2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real data, evaluation &amp; report writing (planned)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– 1st Presentation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56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4" name="Picture 33" descr="logo_badge.png">
            <a:extLst>
              <a:ext uri="{FF2B5EF4-FFF2-40B4-BE49-F238E27FC236}">
                <a16:creationId xmlns:a16="http://schemas.microsoft.com/office/drawing/2014/main" id="{37328E00-1B26-E0A3-B5C5-A93C01070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1542" y="90316"/>
            <a:ext cx="1610868" cy="1454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2F80ED">
              <a:alpha val="3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&amp; REFERENCES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0F26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7280" y="178308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 system that forecasts Uttarakhand's monthly tourist visits 1–3 years ahead with 80% ranges, compares four models and shows results in a dashboard with a hotspot map. First results (estimated monthly data): SARIMAX error 3.2% MAPE vs 7.8% for the seasonal-naive baseline; forecast ≈ 6.19 crore visits in 2025 and 6.41 crore in the Kumbh year 2027.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latin typeface="Calibri" pitchFamily="34" charset="0"/>
                <a:ea typeface="Calibri" pitchFamily="34" charset="-122"/>
                <a:cs typeface="Calibri" pitchFamily="34" charset="-120"/>
              </a:rPr>
              <a:t>[1]  G. E. P. Box et al., Time Series Analysis: Forecasting and Control, 5th ed., Wiley, 2015.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latin typeface="Calibri" pitchFamily="34" charset="0"/>
                <a:ea typeface="Calibri" pitchFamily="34" charset="-122"/>
                <a:cs typeface="Calibri" pitchFamily="34" charset="-120"/>
              </a:rPr>
              <a:t>[2]  R. J. Hyndman and G. Athanasopoulos, Forecasting: Principles and Practice, 3rd ed., OTexts, 2021.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latin typeface="Calibri" pitchFamily="34" charset="0"/>
                <a:ea typeface="Calibri" pitchFamily="34" charset="-122"/>
                <a:cs typeface="Calibri" pitchFamily="34" charset="-120"/>
              </a:rPr>
              <a:t>[3]  H. Song, R. T. R. Qiu and J. Park, “A review of research on tourism demand forecasting,” Annals of Tourism Research, vol. 75, 2019.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pic>
        <p:nvPicPr>
          <p:cNvPr id="14" name="Picture 13" descr="logo_badge.png">
            <a:extLst>
              <a:ext uri="{FF2B5EF4-FFF2-40B4-BE49-F238E27FC236}">
                <a16:creationId xmlns:a16="http://schemas.microsoft.com/office/drawing/2014/main" id="{199277CE-BFBD-C7B4-C181-43D04A744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845" y="-12344"/>
            <a:ext cx="1279429" cy="1155344"/>
          </a:xfrm>
          <a:prstGeom prst="rect">
            <a:avLst/>
          </a:prstGeom>
        </p:spPr>
      </p:pic>
      <p:sp>
        <p:nvSpPr>
          <p:cNvPr id="13" name="Reference 4">
            <a:extLst>
              <a:ext uri="{FF2B5EF4-FFF2-40B4-BE49-F238E27FC236}">
                <a16:creationId xmlns:a16="http://schemas.microsoft.com/office/drawing/2014/main" id="{073F04B0-3012-B726-0105-4AA55F37B19F}"/>
              </a:ext>
            </a:extLst>
          </p:cNvPr>
          <p:cNvSpPr txBox="1"/>
          <p:nvPr/>
        </p:nvSpPr>
        <p:spPr>
          <a:xfrm>
            <a:off x="822960" y="4932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latin typeface="Calibri" pitchFamily="34" charset="0"/>
                <a:ea typeface="Calibri" pitchFamily="34" charset="-122"/>
                <a:cs typeface="Calibri" pitchFamily="34" charset="-120"/>
              </a:rPr>
              <a:t>[4]  S. Makridakis et al., “The M4 Competition,” International Journal of Forecasting, vol. 36, no. 1, 2020.</a:t>
            </a:r>
            <a:endParaRPr lang="en-US" sz="1250" dirty="0"/>
          </a:p>
        </p:txBody>
      </p:sp>
      <p:sp>
        <p:nvSpPr>
          <p:cNvPr id="15" name="Reference 5">
            <a:extLst>
              <a:ext uri="{FF2B5EF4-FFF2-40B4-BE49-F238E27FC236}">
                <a16:creationId xmlns:a16="http://schemas.microsoft.com/office/drawing/2014/main" id="{0C49D0C2-3674-7F2E-B381-B77811A3B8EF}"/>
              </a:ext>
            </a:extLst>
          </p:cNvPr>
          <p:cNvSpPr txBox="1"/>
          <p:nvPr/>
        </p:nvSpPr>
        <p:spPr>
          <a:xfrm>
            <a:off x="822960" y="533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latin typeface="Calibri" pitchFamily="34" charset="0"/>
                <a:ea typeface="Calibri" pitchFamily="34" charset="-122"/>
                <a:cs typeface="Calibri" pitchFamily="34" charset="-120"/>
              </a:rPr>
              <a:t>[5]  Ministry of Tourism, Govt. of India, India Tourism Data Compendium 2025 (Table 4.1.2), 2025.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</TotalTime>
  <Words>958</Words>
  <Application>Microsoft Office PowerPoint</Application>
  <PresentationFormat>Widescreen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Cambria</vt:lpstr>
      <vt:lpstr>Century Gothic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Anurag</cp:lastModifiedBy>
  <cp:revision>8</cp:revision>
  <dcterms:created xsi:type="dcterms:W3CDTF">2026-09-23T08:51:33Z</dcterms:created>
  <dcterms:modified xsi:type="dcterms:W3CDTF">2026-10-08T13:51:48Z</dcterms:modified>
</cp:coreProperties>
</file>